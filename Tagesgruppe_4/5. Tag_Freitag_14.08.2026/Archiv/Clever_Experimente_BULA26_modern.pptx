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image" Target="../media/image-4-2.png"/><Relationship Id="rId4" Type="http://schemas.openxmlformats.org/officeDocument/2006/relationships/image" Target="../media/image-33-2.png"/><Relationship Id="rId5" Type="http://schemas.openxmlformats.org/officeDocument/2006/relationships/image" Target="../media/image-1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234440"/>
            <a:ext cx="1219169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i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</a:t>
            </a:r>
            <a:pPr algn="ctr" indent="0" marL="0">
              <a:buNone/>
            </a:pPr>
            <a:r>
              <a:rPr lang="en-US" sz="9000" b="1" i="1" spc="-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0" dirty="0"/>
          </a:p>
        </p:txBody>
      </p:sp>
      <p:sp>
        <p:nvSpPr>
          <p:cNvPr id="4" name="Text 1"/>
          <p:cNvSpPr/>
          <p:nvPr/>
        </p:nvSpPr>
        <p:spPr>
          <a:xfrm>
            <a:off x="0" y="2606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EXPERIMENTE-SHOW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Jungscharlager „Jo und die starken 7“ · Ampfelbronn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353872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14.08.2026 · Abendprogramm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93896" y="4069080"/>
            <a:ext cx="713232" cy="713232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632" y="4238244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45456" y="4069080"/>
            <a:ext cx="713232" cy="713232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10" name="Image 2" descr="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92" y="4238244"/>
            <a:ext cx="365760" cy="3657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97016" y="4069080"/>
            <a:ext cx="713232" cy="713232"/>
          </a:xfrm>
          <a:prstGeom prst="ellipse">
            <a:avLst/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2" name="Image 3" descr="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752" y="4238244"/>
            <a:ext cx="365760" cy="3657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348576" y="4069080"/>
            <a:ext cx="713232" cy="713232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4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312" y="4238244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&amp; Präsentation: Niklas · Moderation: Tim &amp; Robin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Versuche im Überblick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640080" y="1691640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8680" y="1691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Aceton und Styropor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258568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22585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Seife zum Schwimmen bringen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2825496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68680" y="2825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Elefantenzahnpasta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392424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68680" y="33924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Feuerzeuggas und Wasser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959352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CD in der Mikrowelle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263640" y="1691640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492240" y="1691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Nicht-Newton’sche Flüssigkeit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63640" y="2258568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492240" y="22585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Kerze im Glas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263640" y="2825496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492240" y="2825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Marmeladenglastriebwerk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263640" y="3392424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492240" y="33924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Papier falten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263640" y="3959352"/>
            <a:ext cx="525780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4922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Plasmakanone (Bonus, falls funktionsfähig)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1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Aceton und Styropor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 mit Aceton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Styroporstreifen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Streifen Styropor wird direkt in ein Glas mit Aceton gedrückt und darin gehalten.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1 · BULA26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1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Aceton und Styropor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ein langer Streifen Styropor in Aceton getaucht wird?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32232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0632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Styropor dehnt sich aus und geht auf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016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4041648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passiert nichts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800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5020056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Styropor wird zu einer schleimartigen Masse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1 · BULA26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1: Aceton und Styropor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1 · BULA26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1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Aceton und Styropor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ein langer Streifen Styropor in Aceton getaucht wird?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377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7185">
              <a:alpha val="12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Styropor dehnt sich aus und geht auf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BF24">
              <a:alpha val="12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71600" y="2971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passiert nichts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16667"/>
            </a:avLst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37490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>
              <a:alpha val="22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716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Styropor wird zu einer schleimartigen Masse</a:t>
            </a:r>
            <a:endParaRPr lang="en-US" sz="1350" dirty="0"/>
          </a:p>
        </p:txBody>
      </p:sp>
      <p:pic>
        <p:nvPicPr>
          <p:cNvPr id="21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7947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910328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Styropor ist ein durch Treibmittel aufgeschäumter Kunststoff. Das Aceton löst die Bindungen zwischen den Kunststoffmolekülen auf – das Styropor zersetzt sich zu einer zähen Masse.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1 · BULA26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2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Seife zum Schwimmen bringen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Mikrowelle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Seifenblöcke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67912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867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Salz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Seifenblock alleine schwimmt nicht. Ein Block liegt in Essig, einer wird mit Salz bestreut, ein weiterer kommt 20–30 Sekunden in die Mikrowelle.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2 · BULA26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2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Seife zum Schwimmen bringen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kann man ein Stück Seife zum Schwimmen bringen?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32232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0632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Seife in Essig einlegen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016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4041648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Mikrowelle erhitzen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800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5020056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Stück Seife mit Salz bestreuen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2 · BULA26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2: Seife zum Schwimmen bringen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2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2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Seife zum Schwimmen bringen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kann man ein Stück Seife zum Schwimmen bringen?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377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7185">
              <a:alpha val="12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Seife in Essig einlegen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16667"/>
            </a:avLst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BF24">
              <a:alpha val="22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1600" y="2971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Mikrowelle erhitzen</a:t>
            </a:r>
            <a:endParaRPr lang="en-US" sz="1350" dirty="0"/>
          </a:p>
        </p:txBody>
      </p:sp>
      <p:pic>
        <p:nvPicPr>
          <p:cNvPr id="17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7490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Stück Seife mit Salz bestreuen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910328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 der Seife enthaltene Wasser verdampft, die enthaltene Luft dehnt sich aus. Beides zusammen bildet ein Luftpolster, das die Seife schwimmen lässt.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2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3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Elefantenzahnpasta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Trockenhefe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Lebensmittelfarbe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Wasserstoffperoxid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67912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867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Spüli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Hefe wird in warmem Wasser aufgelöst und in eine Vase gegeben. Lebensmittelfarbe, Spüli und Wasserstoffperoxid werden separat gemischt und zügig dazugegeben.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3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3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Elefantenzahnpasta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die beiden Mischungen in der Vase zusammenkommen?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29184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05840" y="329184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 — was denkt ihr?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3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3: Elefantenzahnpasta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3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3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Elefantenzahnpasta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die beiden Mischungen in der Vase zusammenkommen?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286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aufgelöst!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" y="3291840"/>
            <a:ext cx="10881360" cy="2971800"/>
          </a:xfrm>
          <a:prstGeom prst="roundRect">
            <a:avLst>
              <a:gd name="adj" fmla="val 4308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68680" y="3401568"/>
            <a:ext cx="104241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Hefe enthält das Enzym Katalase, das Wasserstoffperoxid blitzschnell in Wasser und Sauerstoff zerlegt. Das Spülmittel fängt den entstehenden Sauerstoff als Schaum ein – die „Elefantenzahnpasta“ schießt aus der Vase.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Ergänzt – im Ablaufplan war keine Erklärung hinterlegt.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4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Feuerzeuggas und Wasser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kleine Cola-Flaschen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Flaschen Feuerzeuggas + Zange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Flüssiges Feuerzeuggas wird in eine Cola-Flasche gegeben, die zu ca. 1/3 mit Wasser gefüllt ist. Die Flasche wird rasch umgedreht.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02920" y="580644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3A1230">
              <a:alpha val="8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18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91616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58064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im Freien, mit Sicherheitsabstand für alle Teilnehmenden durchführen.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4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4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Feuerzeuggas und Wasser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man Feuerzeuggas in eine Flasche füllt, die zu ca. 1/3 mit Wasser gefüllt ist, und die Flasche dann umdreht?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32232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0632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Flasche fliegt weg wie eine Rakete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016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4041648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Gas verdampft, bevor etwas passieren kann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800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5020056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Gas mischt sich mit dem Wasser zu starkem Sprudel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4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4: Feuerzeuggas und Wasser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521208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3A1230">
              <a:alpha val="8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9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2180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5212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im Freien, mit Sicherheitsabstand für alle Teilnehmenden durchführen.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4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4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Feuerzeuggas und Wasser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man Feuerzeuggas in eine Flasche füllt, die zu ca. 1/3 mit Wasser gefüllt ist, und die Flasche dann umdreht?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16667"/>
            </a:avLst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2377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7185">
              <a:alpha val="2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160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Flasche fliegt weg wie eine Rakete</a:t>
            </a:r>
            <a:endParaRPr lang="en-US" sz="1350" dirty="0"/>
          </a:p>
        </p:txBody>
      </p:sp>
      <p:pic>
        <p:nvPicPr>
          <p:cNvPr id="13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42316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BF24">
              <a:alpha val="12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2971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Gas verdampft, bevor etwas passieren kann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7490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Gas mischt sich mit dem Wasser zu starkem Sprudel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910328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Feuerzeuggas besteht aus reinem Butan und ist bei Raumtemperatur gasförmig, unter -1 °C flüssig. Trifft das kalte, flüssige Gas beim Umdrehen auf das wärmere Wasser, verdampft es explosionsartig und treibt die Rakete in die Höhe.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4 · BULA26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5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in der Mikrowelle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Mikrowelle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CD-Rohlinge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Holzklotz/Ständer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CD wird auf einem Holzständer stehend in die Mikrowelle gestellt.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02920" y="580644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3A1230">
              <a:alpha val="8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18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91616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58064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 genau beobachten, Mikrowelle danach ggf. reinigen.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5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5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in der Mikrowelle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mit der CD in der Mikrowelle?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29184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05840" y="329184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 — was denkt ihr?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5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5: CD in der Mikrowelle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521208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3A1230">
              <a:alpha val="8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9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2180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5212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 genau beobachten, Mikrowelle danach ggf. reinigen.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5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5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in der Mikrowelle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mit der CD in der Mikrowelle?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286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aufgelöst!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" y="3291840"/>
            <a:ext cx="10881360" cy="2971800"/>
          </a:xfrm>
          <a:prstGeom prst="roundRect">
            <a:avLst>
              <a:gd name="adj" fmla="val 4308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68680" y="3401568"/>
            <a:ext cx="104241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hauchdünne Metallschicht auf der CD wirkt wie eine Antenne. Die Mikrowellen erzeugen extrem hohe Stromdichten in der Schicht, die sie schlagartig erhitzen – es entstehen Funken und kleine Blitze, die Muster in die Metallschicht brennen.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Ergänzt – im Ablaufplan war keine Erklärung hinterlegt.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6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Nicht-Newton’sche Flüssigkeit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Speisestärke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Schüssel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Speisestärke und Wasser werden im Verhältnis 3:2 in einer Schüssel vermischt und gut verrührt.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6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6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Nicht-Newton’sche Flüssigkeit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Konsistenz hat eine Mischung aus Stärke (3/5) und Wasser (2/5)?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32232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0632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016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4041648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Flüssig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800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5020056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6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6: Nicht-Newton’sche Flüssigkeit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6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6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Nicht-Newton’sche Flüssigkeit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Konsistenz hat eine Mischung aus Stärke (3/5) und Wasser (2/5)?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377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7185">
              <a:alpha val="12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BF24">
              <a:alpha val="12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71600" y="2971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Flüssig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16667"/>
            </a:avLst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37490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>
              <a:alpha val="22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716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Beides</a:t>
            </a:r>
            <a:endParaRPr lang="en-US" sz="1350" dirty="0"/>
          </a:p>
        </p:txBody>
      </p:sp>
      <p:pic>
        <p:nvPicPr>
          <p:cNvPr id="21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7947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910328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genau das so ist, konnte die Wissenschaft bis heute nicht zweifelsfrei belegen – die Mischung reagiert je nach ausgeübter Kraft mal fest, mal flüssig.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6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7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Kerze im Glas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 mit Wasser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Teelicht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67912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867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Feuerzeug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Teelicht steht auf einem mit Wasser gefüllten Teller und wird angezündet. Sobald es sauber brennt, wird ein Glas darübergestellt.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7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7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Kerze im Glas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man ein Glas über eine brennende Kerze stellt, die auf einem Teller mit Wasser steht?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32232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0632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Kerze geht einfach so aus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016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4041648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ausgehende Kerze zieht Wasser in das Glas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800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5020056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Kerze brennt aufgrund von verdampfendem Wasserstoff weiter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7 · BULA26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7: Kerze im Glas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7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7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Kerze im Glas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man ein Glas über eine brennende Kerze stellt, die auf einem Teller mit Wasser steht?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377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7185">
              <a:alpha val="12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Kerze geht einfach so aus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16667"/>
            </a:avLst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BF24">
              <a:alpha val="22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1600" y="2971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ausgehende Kerze zieht Wasser in das Glas</a:t>
            </a:r>
            <a:endParaRPr lang="en-US" sz="1350" dirty="0"/>
          </a:p>
        </p:txBody>
      </p:sp>
      <p:pic>
        <p:nvPicPr>
          <p:cNvPr id="17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7490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Kerze brennt aufgrund von verdampfendem Wasserstoff weiter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910328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den verbrennenden Sauerstoff entsteht ein Unterdruck im Glas, der das Wasser in das Glas hineinsaugt.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7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8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Marmeladenglastriebwerk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2660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Marmeladenglas mit Raketendeckel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64408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Feinwaage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67912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867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Feuerzeug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471416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714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Handyhalterung + Handy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fingerbreit Spiritus kommt ins Glas, der Deckel wird fest verschlossen und geschüttelt. Das Glas wird auf die tarierte Waage gestellt, dann angezündet – der Wert wird per Kamera festgehalten.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02920" y="580644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3A1230">
              <a:alpha val="8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22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91616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58064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Flamme + Druck: Sicherheitsabstand einhalten, Feuerlöscher bereithalten.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8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8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Marmeladenglastriebwerk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Schub erzeugt das gezeigte Triebwerk?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29184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05840" y="329184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SCHÄTZFRAGE — ruft eure Tipps rein!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8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8: Marmeladenglastriebwerk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521208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3A1230">
              <a:alpha val="8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9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2180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5212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Flamme + Druck: Sicherheitsabstand einhalten, Feuerlöscher bereithalten.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8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8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Marmeladenglastriebwerk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Schub erzeugt das gezeigte Triebwerk?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286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abgelesen — schaut auf die Waage!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" y="3291840"/>
            <a:ext cx="10881360" cy="2971800"/>
          </a:xfrm>
          <a:prstGeom prst="roundRect">
            <a:avLst>
              <a:gd name="adj" fmla="val 4308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68680" y="3401568"/>
            <a:ext cx="104241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die Verbrennung der Spiritusdämpfe entsteht ein hoher Druck, der nur durch das kleine Loch entweichen kann. Das ausströmende Gas drückt das Glas mit hohem Druck nach unten – der Wert wird live auf der Waage abgelesen.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8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9 · ERKLÄRUNG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falten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Großes Papier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9204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92040" y="2057400"/>
            <a:ext cx="6309360" cy="2743200"/>
          </a:xfrm>
          <a:prstGeom prst="roundRect">
            <a:avLst>
              <a:gd name="adj" fmla="val 4667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166360" y="2240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großes Blatt Papier wird so oft wie möglich in der Mitte gefaltet.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9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pic>
        <p:nvPicPr>
          <p:cNvPr id="4" name="Image 1" descr="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9 · FRAGE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falten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kann man ein Stück Papier falten?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32232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0632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016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08760" y="4041648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0C2036">
              <a:alpha val="7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8007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5020056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oft man möchte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9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LIVE-EXPERIMENT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749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9: Papier falten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4348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wird’s gezeigt — genau hinschauen!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9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7607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4023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9 · AUFLÖSUNG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98448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falten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kann man ein Stück Papier falten?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E4A38">
              <a:alpha val="9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16667"/>
            </a:avLst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2377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7185">
              <a:alpha val="2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160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mal</a:t>
            </a:r>
            <a:endParaRPr lang="en-US" sz="1350" dirty="0"/>
          </a:p>
        </p:txBody>
      </p:sp>
      <p:pic>
        <p:nvPicPr>
          <p:cNvPr id="13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42316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2971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BF24">
              <a:alpha val="12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2971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mal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0C2036">
              <a:alpha val="6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7490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oft man möchte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C2036">
              <a:alpha val="8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910328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Papier kann maximal 7-mal gefaltet werden – danach wird die Faltkante zu dick, da sie sich mit jedem Falten verdoppelt. Das gilt für jede Papiergröße. Fun Fact: Bei 42-mal Falten wäre das Papier so dick wie die Strecke bis zum Mond!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clever! · Versuch 9 · BULA26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463040"/>
            <a:ext cx="1645920" cy="164592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4" name="Image 1" descr="icon_g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8288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BONUS-VERSUCH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8404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 10: Plasmakanone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1097280" y="457200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falls funktionsfähig und noch Zeit ist — Ablauf &amp; Frage vor Ort spontan festlegen.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er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4" name="Image 1" descr="icon_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FÜRS MITRATEN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Mitexperimentieren!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&amp; Präsentation: Niklas · Moderation: Tim &amp; Robin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clever! – Experimente-Show BULA26 (modern)</dc:title>
  <dc:subject>PptxGenJS Presentation</dc:subject>
  <dc:creator>PptxGenJS</dc:creator>
  <cp:lastModifiedBy>PptxGenJS</cp:lastModifiedBy>
  <cp:revision>1</cp:revision>
  <dcterms:created xsi:type="dcterms:W3CDTF">2026-08-08T19:48:09Z</dcterms:created>
  <dcterms:modified xsi:type="dcterms:W3CDTF">2026-08-08T19:48:09Z</dcterms:modified>
</cp:coreProperties>
</file>